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2F2F2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F2F2F2"/>
                </a:solidFill>
                <a:latin typeface="Calibri"/>
              </a:rPr>
              <a:t>Average Team Size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Team Size</c:v>
                </c:pt>
              </c:strCache>
            </c:strRef>
          </c:tx>
          <c:spPr>
            <a:solidFill>
              <a:srgbClr val="5B84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2F2F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Marketing</c:v>
                </c:pt>
                <c:pt idx="1">
                  <c:v>IT</c:v>
                </c:pt>
                <c:pt idx="2">
                  <c:v>Finance</c:v>
                </c:pt>
                <c:pt idx="3">
                  <c:v>HR</c:v>
                </c:pt>
                <c:pt idx="4">
                  <c:v>R&amp;D</c:v>
                </c:pt>
                <c:pt idx="5">
                  <c:v>Sales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14.24</c:v>
                </c:pt>
                <c:pt idx="1">
                  <c:v>13.68</c:v>
                </c:pt>
                <c:pt idx="2">
                  <c:v>13.58</c:v>
                </c:pt>
                <c:pt idx="3">
                  <c:v>13.52</c:v>
                </c:pt>
                <c:pt idx="4">
                  <c:v>13.29</c:v>
                </c:pt>
                <c:pt idx="5">
                  <c:v>12.89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64-48FA-9543-580B4C7EA9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35201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5201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09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02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381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4A2E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Insights Report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department-level view of headcount, compensation, satisfaction, attrition and hiring across 1,500 employees.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66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10.33%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5166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5166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takeaways from the workforce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65760" cy="365760"/>
          </a:xfrm>
          <a:prstGeom prst="ellipse">
            <a:avLst/>
          </a:prstGeom>
          <a:solidFill>
            <a:srgbClr val="F2A4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27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&amp; Sales are the growth centers — and the risk centers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99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hold 54% of headcount and also post the highest attrition (24.5% each).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91640"/>
            <a:ext cx="365760" cy="365760"/>
          </a:xfrm>
          <a:prstGeom prst="ellipse">
            <a:avLst/>
          </a:prstGeom>
          <a:solidFill>
            <a:srgbClr val="F2A4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627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gender pay gap working against women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0299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female salary ($65.56K) is ~6% above average male salary ($61.84K) company-wide.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365760" cy="365760"/>
          </a:xfrm>
          <a:prstGeom prst="ellipse">
            <a:avLst/>
          </a:prstGeom>
          <a:solidFill>
            <a:srgbClr val="F2A4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19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pay sits well above every other department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$98K average monthly income is 66% higher than Finance, the next-highest department.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383280"/>
            <a:ext cx="365760" cy="365760"/>
          </a:xfrm>
          <a:prstGeom prst="ellipse">
            <a:avLst/>
          </a:prstGeom>
          <a:solidFill>
            <a:srgbClr val="F2A48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319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flat, not failing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7216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satisfaction, work-life balance, and environment scores cluster near 2.8–2.95 of 4 in every department.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F2A4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0109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track headcount, not risk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4132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share is near-even across departments (~16–17% each) regardless of attrition rate.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5074920"/>
            <a:ext cx="365760" cy="365760"/>
          </a:xfrm>
          <a:prstGeom prst="ellipse">
            <a:avLst/>
          </a:prstGeom>
          <a:solidFill>
            <a:srgbClr val="F2A48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50109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leans on three channels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4132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Referral, and Job Portal together source about two-thirds of all hires.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concentrated in R&amp;D and Sales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373262" y="4183380"/>
            <a:ext cx="6530458" cy="2107692"/>
          </a:xfrm>
          <a:prstGeom prst="roundRect">
            <a:avLst>
              <a:gd name="adj" fmla="val 3137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365" y="44577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4364" y="4823460"/>
            <a:ext cx="6180504" cy="1171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Sales together make up 54% of the workforce (456 + 351 of 1,500), making them the departments to watch for retention risk.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work still leads (47%), but Hybrid is close behind at 37% — remote remains the smallest group at 16%.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C83C16-8E41-1344-0BA5-CE28BA29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" y="1417320"/>
            <a:ext cx="6543675" cy="26112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7A8708-F8CB-F19B-8F2F-D797850BE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291" y="1298448"/>
            <a:ext cx="3623068" cy="2611215"/>
          </a:xfrm>
          <a:prstGeom prst="rect">
            <a:avLst/>
          </a:prstGeom>
        </p:spPr>
      </p:pic>
      <p:sp>
        <p:nvSpPr>
          <p:cNvPr id="26" name="Shape 2">
            <a:extLst>
              <a:ext uri="{FF2B5EF4-FFF2-40B4-BE49-F238E27FC236}">
                <a16:creationId xmlns:a16="http://schemas.microsoft.com/office/drawing/2014/main" id="{B797E0E7-2D36-4F89-AF00-2E1917B8A28D}"/>
              </a:ext>
            </a:extLst>
          </p:cNvPr>
          <p:cNvSpPr/>
          <p:nvPr/>
        </p:nvSpPr>
        <p:spPr>
          <a:xfrm>
            <a:off x="7327826" y="4002656"/>
            <a:ext cx="4663440" cy="2290572"/>
          </a:xfrm>
          <a:prstGeom prst="roundRect">
            <a:avLst>
              <a:gd name="adj" fmla="val 3333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8B51C59C-0A81-A285-8FFC-C216446AD738}"/>
              </a:ext>
            </a:extLst>
          </p:cNvPr>
          <p:cNvSpPr txBox="1"/>
          <p:nvPr/>
        </p:nvSpPr>
        <p:spPr>
          <a:xfrm>
            <a:off x="7602146" y="4368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ARRANGEMENT</a:t>
            </a:r>
            <a:endParaRPr lang="en-US" sz="11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32DCCCF-068D-2B25-4523-3BF3E6AEF756}"/>
              </a:ext>
            </a:extLst>
          </p:cNvPr>
          <p:cNvSpPr txBox="1"/>
          <p:nvPr/>
        </p:nvSpPr>
        <p:spPr>
          <a:xfrm>
            <a:off x="7602146" y="4734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13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C100F15-4EF4-F4FC-4EC8-4B14F280A668}"/>
              </a:ext>
            </a:extLst>
          </p:cNvPr>
          <p:cNvSpPr txBox="1"/>
          <p:nvPr/>
        </p:nvSpPr>
        <p:spPr>
          <a:xfrm>
            <a:off x="9430946" y="47341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702</a:t>
            </a:r>
            <a:endParaRPr lang="en-US" sz="15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7FF5E47-95CE-CA1E-82F1-9A76ED3BC6F0}"/>
              </a:ext>
            </a:extLst>
          </p:cNvPr>
          <p:cNvSpPr txBox="1"/>
          <p:nvPr/>
        </p:nvSpPr>
        <p:spPr>
          <a:xfrm>
            <a:off x="10436786" y="473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893602DE-4B6D-2D62-2392-BBCA431F9A3A}"/>
              </a:ext>
            </a:extLst>
          </p:cNvPr>
          <p:cNvSpPr txBox="1"/>
          <p:nvPr/>
        </p:nvSpPr>
        <p:spPr>
          <a:xfrm>
            <a:off x="7602146" y="5237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C0179744-EDEB-F146-7068-F11AE299BA99}"/>
              </a:ext>
            </a:extLst>
          </p:cNvPr>
          <p:cNvSpPr txBox="1"/>
          <p:nvPr/>
        </p:nvSpPr>
        <p:spPr>
          <a:xfrm>
            <a:off x="9430946" y="5237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</a:t>
            </a:r>
            <a:endParaRPr lang="en-US" sz="15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97FD567-D8A3-5FE2-3E96-14D0657625BF}"/>
              </a:ext>
            </a:extLst>
          </p:cNvPr>
          <p:cNvSpPr txBox="1"/>
          <p:nvPr/>
        </p:nvSpPr>
        <p:spPr>
          <a:xfrm>
            <a:off x="10436786" y="52370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2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1E88731D-1C75-7B35-B9A1-5EF8178E6968}"/>
              </a:ext>
            </a:extLst>
          </p:cNvPr>
          <p:cNvSpPr txBox="1"/>
          <p:nvPr/>
        </p:nvSpPr>
        <p:spPr>
          <a:xfrm>
            <a:off x="7602146" y="5740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0BEDD5A-3058-EDA1-CBA2-20D66318FE78}"/>
              </a:ext>
            </a:extLst>
          </p:cNvPr>
          <p:cNvSpPr txBox="1"/>
          <p:nvPr/>
        </p:nvSpPr>
        <p:spPr>
          <a:xfrm>
            <a:off x="9430946" y="57400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15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8B91760-F6A5-267C-F5E2-1C3C4EAACE0E}"/>
              </a:ext>
            </a:extLst>
          </p:cNvPr>
          <p:cNvSpPr txBox="1"/>
          <p:nvPr/>
        </p:nvSpPr>
        <p:spPr>
          <a:xfrm>
            <a:off x="10436786" y="5740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pays furthest above the rest — women edge out men on average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47091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 — FEMALE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$65.56K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794760" y="47091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2336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 — MALE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8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$61.84K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7178040" y="1417320"/>
            <a:ext cx="4526280" cy="4709160"/>
          </a:xfrm>
          <a:prstGeom prst="roundRect">
            <a:avLst>
              <a:gd name="adj" fmla="val 1616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011680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R&amp;D's average income ($98K) is 66% above the next highest department (Finance, $59K) — likely a mix of senior/specialist roles concentrated there 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Marketing, Sales, IT and HR are all clustered in a tighter $42K–$59K band.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earn ~6% more than men on average company-wide ($65.56K vs $61.84K) — worth a role-level pay equity review to confirm it holds within job levels, not just in aggregate.</a:t>
            </a:r>
          </a:p>
          <a:p>
            <a:pPr>
              <a:lnSpc>
                <a:spcPts val="1800"/>
              </a:lnSpc>
              <a:buSzPct val="100000"/>
            </a:pP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D52140-A5E8-63D5-E135-CD0B81C1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492240" cy="3080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TEAM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generally rises with tenure; team sizes are fairly uniform</a:t>
            </a:r>
            <a:endParaRPr lang="en-US" sz="3000" dirty="0"/>
          </a:p>
        </p:txBody>
      </p:sp>
      <p:graphicFrame>
        <p:nvGraphicFramePr>
          <p:cNvPr id="5" name="Chart 1"/>
          <p:cNvGraphicFramePr/>
          <p:nvPr/>
        </p:nvGraphicFramePr>
        <p:xfrm>
          <a:off x="7040880" y="1417320"/>
          <a:ext cx="4663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040880" y="4343400"/>
            <a:ext cx="4663440" cy="1783080"/>
          </a:xfrm>
          <a:prstGeom prst="roundRect">
            <a:avLst>
              <a:gd name="adj" fmla="val 4103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269480" y="4507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269480" y="4828032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trends upward with tenure overall, though a few long-tenured outliers (e.g. 36 years / $28K) suggest role or grade, not just seniority, drives pay.</a:t>
            </a:r>
            <a:endParaRPr lang="en-US" sz="12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sizes barely vary by department (12.9–14.2) — management spans are consistent company-wide.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D0285A-3BC0-7F7A-779E-99D11A69C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53895"/>
            <a:ext cx="6223636" cy="46542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scores are consistent — and consistently middling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549640" y="1417320"/>
            <a:ext cx="3200400" cy="4709160"/>
          </a:xfrm>
          <a:prstGeom prst="roundRect">
            <a:avLst>
              <a:gd name="adj" fmla="val 2286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011680"/>
            <a:ext cx="2743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satisfaction, work-life balance, and environment scores all sit near 2.8–2.95 out of 4 in every department — no clear outlier, good or bad.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uniformity cuts both ways: nothing is on fire, but nothing stands out as strong either — scores hover just under 75% of the scale ceiling company-wide.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shows the softest work-life balance score (2.68) — a candidate for a closer look.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D0DB18-F3BA-A7C0-689F-0BB746E4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53896"/>
            <a:ext cx="7853158" cy="4672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and Sales carry the heaviest attrition load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80960" y="14173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6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10.33%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680960" y="35661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114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Sales — the two largest departments — also attrite fastest (24.5% each), more than 3x HR's rate (7.74%).</a:t>
            </a:r>
            <a:endParaRPr lang="en-US" sz="12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roughly mirrors headcount at the low end (HR, Finance) but breaks from it at the top — IT is smaller than Sales yet still attrites faster than Marketing or Finance.</a:t>
            </a:r>
            <a:endParaRPr lang="en-US" sz="12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BB433D-2E6A-6021-F022-83377CCA8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19"/>
            <a:ext cx="7108166" cy="4709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are spread evenly, not risk-weighted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0" y="141732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PROMOTION RATE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920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858000" y="3154680"/>
            <a:ext cx="4846320" cy="2971800"/>
          </a:xfrm>
          <a:prstGeom prst="roundRect">
            <a:avLst>
              <a:gd name="adj" fmla="val 2462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7033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share is nearly identical across departments (16.1%–16.9%) — it tracks headcount almost exactly rather than performance or attrition risk.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notable given R&amp;D and Sales attrite at more than double the rate of Finance or HR, yet don't receive a larger share of promotions to help retain talent.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C31ACC-24C4-0438-8B83-EACA95745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159621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and referrals drive most hiring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0" y="1417320"/>
            <a:ext cx="4846320" cy="4709160"/>
          </a:xfrm>
          <a:prstGeom prst="roundRect">
            <a:avLst>
              <a:gd name="adj" fmla="val 1553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645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01168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(24.8%) and Referral (20.9%) together bring in nearly half of all hires — the two most cost-effective and typically highest-quality channels.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Portals add another 20.5%, meaning ~66% of hires come through just three digital channels.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Hiring (10.5%) and Walk-in (9.8%) are the smallest sources — potential room to grow early-career pipelines if long-term cost is a priority.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A0340C-7BF7-161B-E3B6-1E641E870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53896"/>
            <a:ext cx="6138412" cy="4672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B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retention in R&amp;D &amp; Sales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departments hold 54% of headcount but drive the highest attrition (24.5% each). A focused stay-interview and career-pathing effort here has the biggest overall impact on the 10.33% company attrition rate.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pay equity by role, not just company-wide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female average salary edges out male ($65.56K vs $61.84K) in aggregate. Confirm this holds within job level and department — aggregate averages can mask level-based gaps in either direction.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Finance's work-life balance dip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303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Finance's work-life balance score (2.68) trails every other department while job and environment satisfaction stay average — worth a targeted pulse survey.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1605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352015"/>
          </a:solidFill>
          <a:ln w="12700">
            <a:solidFill>
              <a:srgbClr val="35201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sourcing beyond LinkedIn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303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and Referral drive ~46% of hires. Growing Campus Hiring and Walk-in (currently under 11% each) could lower long-run cost-per-hire and build an early-career pipeline.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980</Words>
  <Application>Microsoft Office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Pradhan</cp:lastModifiedBy>
  <cp:revision>2</cp:revision>
  <dcterms:created xsi:type="dcterms:W3CDTF">2026-09-13T06:51:45Z</dcterms:created>
  <dcterms:modified xsi:type="dcterms:W3CDTF">2026-09-13T08:28:23Z</dcterms:modified>
</cp:coreProperties>
</file>